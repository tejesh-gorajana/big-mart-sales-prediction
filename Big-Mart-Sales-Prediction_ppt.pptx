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61" r:id="rId9"/>
    <p:sldId id="262" r:id="rId10"/>
    <p:sldId id="263" r:id="rId11"/>
    <p:sldId id="265" r:id="rId12"/>
    <p:sldId id="264" r:id="rId13"/>
    <p:sldId id="267" r:id="rId14"/>
    <p:sldId id="268" r:id="rId15"/>
  </p:sldIdLst>
  <p:sldSz cx="12192000" cy="6858000"/>
  <p:notesSz cx="6858000" cy="12192000"/>
  <p:embeddedFontLst>
    <p:embeddedFont>
      <p:font typeface="Instrument Sans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6B50"/>
    <a:srgbClr val="B2A39C"/>
    <a:srgbClr val="FFF9F5"/>
    <a:srgbClr val="FFFFFF"/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14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>
              <a:alpha val="5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2004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ohngouri8-sudo/" TargetMode="External"/><Relationship Id="rId5" Type="http://schemas.openxmlformats.org/officeDocument/2006/relationships/hyperlink" Target="https://github.com/tejesh-gorajana" TargetMode="External"/><Relationship Id="rId4" Type="http://schemas.openxmlformats.org/officeDocument/2006/relationships/hyperlink" Target="https://github.com/BhagiKarthik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1475" y="1005979"/>
            <a:ext cx="10868745" cy="196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150" dirty="0">
                <a:solidFill>
                  <a:srgbClr val="8A6B5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BIG MART SALES PREDICTION</a:t>
            </a:r>
            <a:endParaRPr lang="en-US" sz="6150" dirty="0">
              <a:solidFill>
                <a:srgbClr val="8A6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323294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F3D3B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626941"/>
            <a:ext cx="2429608" cy="1862038"/>
          </a:xfrm>
          <a:prstGeom prst="roundRect">
            <a:avLst>
              <a:gd name="adj" fmla="val 12657"/>
            </a:avLst>
          </a:prstGeom>
          <a:solidFill>
            <a:srgbClr val="FFF9F5"/>
          </a:solidFill>
          <a:ln w="19050">
            <a:solidFill>
              <a:srgbClr val="E3B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584" y="3803055"/>
            <a:ext cx="207739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 V N SURYA TEJA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7584" y="4197846"/>
            <a:ext cx="2077390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BC9A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Team Lead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Data Inspection &amp; Preprocessing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u="sng" dirty="0">
                <a:solidFill>
                  <a:srgbClr val="A0622C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github.com/Sur2004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80804" y="3626941"/>
            <a:ext cx="2429608" cy="1616869"/>
          </a:xfrm>
          <a:prstGeom prst="roundRect">
            <a:avLst>
              <a:gd name="adj" fmla="val 14576"/>
            </a:avLst>
          </a:prstGeom>
          <a:solidFill>
            <a:srgbClr val="FFF9F5"/>
          </a:solidFill>
          <a:ln w="19050">
            <a:solidFill>
              <a:srgbClr val="E3BC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6913" y="3803055"/>
            <a:ext cx="207739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 BHAGYARAJU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6913" y="4197846"/>
            <a:ext cx="2077390" cy="8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BC9A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Member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Data Analysis &amp; Visualization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u="sng" dirty="0">
                <a:solidFill>
                  <a:srgbClr val="A0622C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github.com/BhagiKarthik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0134" y="3626941"/>
            <a:ext cx="2429608" cy="2107208"/>
          </a:xfrm>
          <a:prstGeom prst="roundRect">
            <a:avLst>
              <a:gd name="adj" fmla="val 11185"/>
            </a:avLst>
          </a:prstGeom>
          <a:solidFill>
            <a:srgbClr val="FFF9F5"/>
          </a:solidFill>
          <a:ln w="19050">
            <a:solidFill>
              <a:srgbClr val="E3BC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6243" y="3803055"/>
            <a:ext cx="207739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 TEJESH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76243" y="4197846"/>
            <a:ext cx="2077390" cy="1360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BC9A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Member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ML Model Development &amp;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u="sng" dirty="0">
                <a:solidFill>
                  <a:srgbClr val="A0622C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github.com/tejesh-gorajana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19463" y="3626941"/>
            <a:ext cx="2429608" cy="1862038"/>
          </a:xfrm>
          <a:prstGeom prst="roundRect">
            <a:avLst>
              <a:gd name="adj" fmla="val 12657"/>
            </a:avLst>
          </a:prstGeom>
          <a:solidFill>
            <a:srgbClr val="FFF9F5"/>
          </a:solidFill>
          <a:ln w="19050">
            <a:solidFill>
              <a:srgbClr val="E3BC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5572" y="3803055"/>
            <a:ext cx="207739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 JOHN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95572" y="4197846"/>
            <a:ext cx="2077390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E3BC9A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Member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Documentation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u="sng" dirty="0">
                <a:solidFill>
                  <a:srgbClr val="A0622C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github.com/johngouri8-sudo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6682" y="6069905"/>
            <a:ext cx="114783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🔗</a:t>
            </a: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Common Repository:</a:t>
            </a: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u="sng" dirty="0">
                <a:solidFill>
                  <a:srgbClr val="A0622C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Sur2004/Big-Mart-Sales-Prediction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15179F-8BBD-9568-3976-1A6AF95A4A91}"/>
              </a:ext>
            </a:extLst>
          </p:cNvPr>
          <p:cNvSpPr/>
          <p:nvPr/>
        </p:nvSpPr>
        <p:spPr>
          <a:xfrm>
            <a:off x="11010122" y="6531429"/>
            <a:ext cx="1181878" cy="251520"/>
          </a:xfrm>
          <a:prstGeom prst="rect">
            <a:avLst/>
          </a:prstGeom>
          <a:solidFill>
            <a:srgbClr val="B2A39C"/>
          </a:solidFill>
          <a:ln>
            <a:solidFill>
              <a:srgbClr val="B2A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8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980" y="100000"/>
                </a:lnTo>
                <a:lnTo>
                  <a:pt x="3710" y="95900"/>
                </a:lnTo>
                <a:lnTo>
                  <a:pt x="7520" y="89160"/>
                </a:lnTo>
                <a:lnTo>
                  <a:pt x="9570" y="84860"/>
                </a:lnTo>
                <a:lnTo>
                  <a:pt x="12110" y="78520"/>
                </a:lnTo>
                <a:lnTo>
                  <a:pt x="13960" y="72660"/>
                </a:lnTo>
                <a:lnTo>
                  <a:pt x="15430" y="66500"/>
                </a:lnTo>
                <a:lnTo>
                  <a:pt x="16500" y="59570"/>
                </a:lnTo>
                <a:lnTo>
                  <a:pt x="16990" y="53030"/>
                </a:lnTo>
                <a:lnTo>
                  <a:pt x="16890" y="44920"/>
                </a:lnTo>
                <a:lnTo>
                  <a:pt x="16310" y="38870"/>
                </a:lnTo>
                <a:lnTo>
                  <a:pt x="15140" y="32130"/>
                </a:lnTo>
                <a:lnTo>
                  <a:pt x="13280" y="25000"/>
                </a:lnTo>
                <a:lnTo>
                  <a:pt x="11430" y="19630"/>
                </a:lnTo>
                <a:lnTo>
                  <a:pt x="8200" y="12210"/>
                </a:lnTo>
                <a:lnTo>
                  <a:pt x="5180" y="65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604341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909538"/>
            <a:ext cx="6296860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PROBLEM STATEMENT &amp; OBJECTIVES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2115245"/>
            <a:ext cx="629686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Big Mart</a:t>
            </a: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wants to understand the factors that affect the sales of its products across different outlets. This project analyzes historical sales data to </a:t>
            </a: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predict Item_Outlet_Sales</a:t>
            </a: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using machine learning models.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1475" y="3018631"/>
            <a:ext cx="353508" cy="353516"/>
          </a:xfrm>
          <a:prstGeom prst="ellipse">
            <a:avLst/>
          </a:prstGeom>
          <a:solidFill>
            <a:srgbClr val="E3BC9A"/>
          </a:solidFill>
          <a:ln/>
        </p:spPr>
      </p:sp>
      <p:sp>
        <p:nvSpPr>
          <p:cNvPr id="7" name="Text 4"/>
          <p:cNvSpPr/>
          <p:nvPr/>
        </p:nvSpPr>
        <p:spPr>
          <a:xfrm>
            <a:off x="720360" y="3048050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1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64204" y="3072606"/>
            <a:ext cx="579413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IDENTIFY KEY SALES DRIVERS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64204" y="3407668"/>
            <a:ext cx="579413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Determine which product and outlet features most strongly influence sales performance.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1475" y="4196457"/>
            <a:ext cx="353508" cy="353516"/>
          </a:xfrm>
          <a:prstGeom prst="ellipse">
            <a:avLst/>
          </a:prstGeom>
          <a:solidFill>
            <a:srgbClr val="FFF9F5"/>
          </a:solidFill>
          <a:ln/>
        </p:spPr>
      </p:sp>
      <p:sp>
        <p:nvSpPr>
          <p:cNvPr id="11" name="Text 8"/>
          <p:cNvSpPr/>
          <p:nvPr/>
        </p:nvSpPr>
        <p:spPr>
          <a:xfrm>
            <a:off x="720360" y="4225875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2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64204" y="4250432"/>
            <a:ext cx="579413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BUILD PREDICTIVE MODELS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64204" y="4585494"/>
            <a:ext cx="579413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Train and compare multiple ML regressors — Random Forest, Gradient Boosting, and XGBoost — for accurate sales forecasting.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1475" y="5374283"/>
            <a:ext cx="353508" cy="353516"/>
          </a:xfrm>
          <a:prstGeom prst="ellipse">
            <a:avLst/>
          </a:prstGeom>
          <a:solidFill>
            <a:srgbClr val="A0622C"/>
          </a:solidFill>
          <a:ln/>
        </p:spPr>
      </p:sp>
      <p:sp>
        <p:nvSpPr>
          <p:cNvPr id="15" name="Text 12"/>
          <p:cNvSpPr/>
          <p:nvPr/>
        </p:nvSpPr>
        <p:spPr>
          <a:xfrm>
            <a:off x="720360" y="5403701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3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64204" y="5428258"/>
            <a:ext cx="579413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GENERATE BUSINESS INSIGHTS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64204" y="5763320"/>
            <a:ext cx="579413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Translate analysis findings into practical suggestions to improve outlet-level sales and inventory planning.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7987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08968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DATASET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740694"/>
            <a:ext cx="3942458" cy="708422"/>
          </a:xfrm>
          <a:prstGeom prst="roundRect">
            <a:avLst>
              <a:gd name="adj" fmla="val 26265"/>
            </a:avLst>
          </a:prstGeom>
          <a:solidFill>
            <a:srgbClr val="E3BC9A"/>
          </a:solidFill>
          <a:ln/>
        </p:spPr>
      </p:sp>
      <p:sp>
        <p:nvSpPr>
          <p:cNvPr id="5" name="Text 3"/>
          <p:cNvSpPr/>
          <p:nvPr/>
        </p:nvSpPr>
        <p:spPr>
          <a:xfrm>
            <a:off x="785495" y="1864717"/>
            <a:ext cx="369441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8,523 ROWS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5495" y="2151459"/>
            <a:ext cx="369441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Each row = one product at one outlet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61475" y="2542084"/>
            <a:ext cx="3942458" cy="708422"/>
          </a:xfrm>
          <a:prstGeom prst="roundRect">
            <a:avLst>
              <a:gd name="adj" fmla="val 26265"/>
            </a:avLst>
          </a:prstGeom>
          <a:solidFill>
            <a:srgbClr val="FFF9F5"/>
          </a:solidFill>
          <a:ln/>
        </p:spPr>
      </p:sp>
      <p:sp>
        <p:nvSpPr>
          <p:cNvPr id="8" name="Text 6"/>
          <p:cNvSpPr/>
          <p:nvPr/>
        </p:nvSpPr>
        <p:spPr>
          <a:xfrm>
            <a:off x="785495" y="2666107"/>
            <a:ext cx="369441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12 COLUMNS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5495" y="2952849"/>
            <a:ext cx="3694417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11 features + 1 target variable , which includes: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5 Numerical columns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7 Categorical columns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950" dirty="0">
              <a:solidFill>
                <a:srgbClr val="000000"/>
              </a:solidFill>
              <a:latin typeface="Times New Roman" panose="02020603050405020304" pitchFamily="18" charset="0"/>
              <a:ea typeface="Instrument San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7454" y="3685680"/>
            <a:ext cx="3942458" cy="708422"/>
          </a:xfrm>
          <a:prstGeom prst="roundRect">
            <a:avLst>
              <a:gd name="adj" fmla="val 26265"/>
            </a:avLst>
          </a:prstGeom>
          <a:solidFill>
            <a:srgbClr val="A0622C"/>
          </a:solidFill>
          <a:ln/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6BDD48-B2C1-A771-5FD0-6C85A6970F9A}"/>
              </a:ext>
            </a:extLst>
          </p:cNvPr>
          <p:cNvGrpSpPr/>
          <p:nvPr/>
        </p:nvGrpSpPr>
        <p:grpSpPr>
          <a:xfrm>
            <a:off x="779548" y="3801614"/>
            <a:ext cx="3700364" cy="451464"/>
            <a:chOff x="779548" y="3801614"/>
            <a:chExt cx="3700364" cy="451464"/>
          </a:xfrm>
        </p:grpSpPr>
        <p:sp>
          <p:nvSpPr>
            <p:cNvPr id="11" name="Text 9"/>
            <p:cNvSpPr/>
            <p:nvPr/>
          </p:nvSpPr>
          <p:spPr>
            <a:xfrm>
              <a:off x="785495" y="3801614"/>
              <a:ext cx="3694417" cy="1937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Times New Roman" panose="02020603050405020304" pitchFamily="18" charset="0"/>
                  <a:ea typeface="Instrument Sans SemiBold" pitchFamily="34" charset="-122"/>
                  <a:cs typeface="Times New Roman" panose="02020603050405020304" pitchFamily="18" charset="0"/>
                </a:rPr>
                <a:t>TRAIN / TEST SPLIT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79548" y="4079445"/>
              <a:ext cx="3694417" cy="1736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Times New Roman" panose="02020603050405020304" pitchFamily="18" charset="0"/>
                  <a:ea typeface="Instrument Sans" pitchFamily="34" charset="-122"/>
                  <a:cs typeface="Times New Roman" panose="02020603050405020304" pitchFamily="18" charset="0"/>
                </a:rPr>
                <a:t>80% training (6,818 rows) · 20% testing (1,705 rows)</a:t>
              </a:r>
              <a:endParaRPr 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 11"/>
          <p:cNvSpPr/>
          <p:nvPr/>
        </p:nvSpPr>
        <p:spPr>
          <a:xfrm>
            <a:off x="661475" y="4563564"/>
            <a:ext cx="394245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Target Variable: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Item_Outlet_Sales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Avg: 2181.29 · Range: 33.29 – 13086.96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038463"/>
              </p:ext>
            </p:extLst>
          </p:nvPr>
        </p:nvGraphicFramePr>
        <p:xfrm>
          <a:off x="5030660" y="1236841"/>
          <a:ext cx="6623580" cy="4253189"/>
        </p:xfrm>
        <a:graphic>
          <a:graphicData uri="http://schemas.openxmlformats.org/drawingml/2006/table">
            <a:tbl>
              <a:tblPr/>
              <a:tblGrid>
                <a:gridCol w="2318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Column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Type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Description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Item_Identifier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Unique product code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Item_Weight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Numerical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Weight of product (avg 12.86)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Item_Fat_Content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Low Fat / Regular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Item_Visibility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Numerical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Display area % (avg 0.066)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Item_Type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Product category (e.g. Dairy, Meat)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Item_MRP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Numerical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Max retail price (avg 140.99)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Outlet_Identifier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Unique outlet code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Outlet_Est._Year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Numerical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Year outlet was set up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Outlet_Size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Small / Medium / High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Outlet_Location_Type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City tier (Tier 1/2/3)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Outlet_Type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Categorical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Grocery Store / Supermarket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Item_Outlet_Sales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Numerical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Target variable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4B00AA2-14AD-AF8B-7D5D-23D0CF494370}"/>
              </a:ext>
            </a:extLst>
          </p:cNvPr>
          <p:cNvSpPr/>
          <p:nvPr/>
        </p:nvSpPr>
        <p:spPr>
          <a:xfrm>
            <a:off x="11000792" y="6531429"/>
            <a:ext cx="1191208" cy="326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26707B-6602-9749-A75B-B5372D610335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27956-4070-7717-92D4-E0FEDEFFF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559"/>
            <a:ext cx="12192000" cy="3965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BA975-FF24-7D0E-A687-05B7CD0BF1AC}"/>
              </a:ext>
            </a:extLst>
          </p:cNvPr>
          <p:cNvSpPr txBox="1"/>
          <p:nvPr/>
        </p:nvSpPr>
        <p:spPr>
          <a:xfrm>
            <a:off x="401217" y="531846"/>
            <a:ext cx="7231224" cy="64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8A6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Values (first 10 rows)</a:t>
            </a:r>
            <a:endParaRPr lang="en-IN" sz="3600" dirty="0">
              <a:solidFill>
                <a:srgbClr val="8A6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5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336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84127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DATA INSPECTION &amp; MISSING VALUES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32532"/>
            <a:ext cx="6076804" cy="4462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2583" y="1519238"/>
            <a:ext cx="41538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OBSERVATIONS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2583" y="1844973"/>
            <a:ext cx="4153887" cy="996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0086" y="1996281"/>
            <a:ext cx="37750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ITEM_WEIGHT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10086" y="2308721"/>
            <a:ext cx="3775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1,463 missing values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— Numerical column. Filled using the </a:t>
            </a: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median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to avoid skew from outliers.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2583" y="2946797"/>
            <a:ext cx="4153887" cy="996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0086" y="3098105"/>
            <a:ext cx="37750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OUTLET_SIZE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10086" y="3410545"/>
            <a:ext cx="3775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2,410 missing values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— Categorical column. Filled using the </a:t>
            </a: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mode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(most frequent category).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2583" y="4048621"/>
            <a:ext cx="4153887" cy="996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0086" y="4199930"/>
            <a:ext cx="37750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NO DUPLICATES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610086" y="4512370"/>
            <a:ext cx="3775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Dataset checked for duplicate rows — </a:t>
            </a: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none found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, so no rows were removed.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2583" y="5150445"/>
            <a:ext cx="4153887" cy="996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610086" y="5301754"/>
            <a:ext cx="377508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RESULT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610086" y="5614194"/>
            <a:ext cx="3775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After treatment, the dataset had </a:t>
            </a:r>
            <a:r>
              <a:rPr lang="en-US" sz="10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zero missing values</a:t>
            </a: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remaining.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5840B5-AFFC-FB31-5CA3-56887DB42789}"/>
              </a:ext>
            </a:extLst>
          </p:cNvPr>
          <p:cNvSpPr/>
          <p:nvPr/>
        </p:nvSpPr>
        <p:spPr>
          <a:xfrm>
            <a:off x="10998375" y="6531429"/>
            <a:ext cx="1191208" cy="32657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1969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742950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DATA PREPROCESSING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12" y="1270099"/>
            <a:ext cx="7890471" cy="2960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25992" y="3397572"/>
            <a:ext cx="1379919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LOG TRANSFORMATION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26144" y="3397572"/>
            <a:ext cx="1379919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ENCODE CATAGORICAL COLUMNS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34448" y="3397572"/>
            <a:ext cx="1190096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FEATURE ENG.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42751" y="3512203"/>
            <a:ext cx="1190097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LABEL FIXES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18450" y="3397572"/>
            <a:ext cx="1190097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MISSING VALUES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4427438"/>
            <a:ext cx="2596093" cy="6594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0895" y="4440138"/>
            <a:ext cx="243397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MISSING VALUE TREATMENT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0895" y="4726880"/>
            <a:ext cx="243397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Item_Weight → median ·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Outlet_Size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→ mode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8450" y="4427438"/>
            <a:ext cx="2596093" cy="6594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10569" y="4440138"/>
            <a:ext cx="243397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LABEL CLEANING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510569" y="4726880"/>
            <a:ext cx="2433973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Merged "LF", "low fat" → "Low Fat" for consistency in Item_Fat_Content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775" y="5247481"/>
            <a:ext cx="5295768" cy="4857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0895" y="5260181"/>
            <a:ext cx="51336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FEATURE ENGINEERING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10895" y="5546923"/>
            <a:ext cx="513364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Outlet_Age = 2013 − Outlet_Establishment_Year (age is more meaningful than year)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0802" y="4427438"/>
            <a:ext cx="2596093" cy="11803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2922" y="4440138"/>
            <a:ext cx="243397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CATEGORICAL ENCODING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402922" y="4726880"/>
            <a:ext cx="5568254" cy="638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Outlet_Identifier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→  Extracted numeric ID from the actual values;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Outlet_Location_Type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→ Tier 1/2/3 mapped to 1/2/3</a:t>
            </a:r>
          </a:p>
          <a:p>
            <a:pPr>
              <a:lnSpc>
                <a:spcPct val="117000"/>
              </a:lnSpc>
            </a:pP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Item_Type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Outlet_Size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,  </a:t>
            </a: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Outlet_Type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Item_Fat_Content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→ </a:t>
            </a:r>
            <a:r>
              <a:rPr lang="en-US" sz="1100" dirty="0" err="1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LabelEncoder</a:t>
            </a: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;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9102596" y="4440138"/>
            <a:ext cx="243397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9102596" y="4726880"/>
            <a:ext cx="2433973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802" y="5768380"/>
            <a:ext cx="5295768" cy="48577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02922" y="5781080"/>
            <a:ext cx="51336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TRAIN / TEST SPLIT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6402922" y="6067822"/>
            <a:ext cx="5133648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80% training (6,818 rows) · 20% testing (1,705 rows); same split used for all three models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158400-0C44-5242-CB6C-32F2F26E7EE9}"/>
              </a:ext>
            </a:extLst>
          </p:cNvPr>
          <p:cNvSpPr/>
          <p:nvPr/>
        </p:nvSpPr>
        <p:spPr>
          <a:xfrm>
            <a:off x="11066106" y="6606074"/>
            <a:ext cx="1045029" cy="193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FD67C3-0130-31C6-13BC-7D0DD355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567"/>
            <a:ext cx="12192000" cy="35269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43080E-F910-F659-9797-E18F9BC823D3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50249-FA87-CC15-E459-A2D31430D5A3}"/>
              </a:ext>
            </a:extLst>
          </p:cNvPr>
          <p:cNvSpPr txBox="1"/>
          <p:nvPr/>
        </p:nvSpPr>
        <p:spPr>
          <a:xfrm>
            <a:off x="298578" y="544581"/>
            <a:ext cx="10179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8A6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Values after Preprocessing (first 10 rows)</a:t>
            </a:r>
            <a:endParaRPr lang="en-IN" sz="3600" dirty="0">
              <a:solidFill>
                <a:srgbClr val="8A6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1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477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82341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CORRELATION ANALYSIS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4672"/>
            <a:ext cx="6348925" cy="4514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06415" y="1501378"/>
            <a:ext cx="393005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INTERPRETATIONS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6415" y="1827113"/>
            <a:ext cx="3930056" cy="996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33918" y="1978422"/>
            <a:ext cx="355124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ITEM_MRP — R ≈ 0.57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833918" y="2290862"/>
            <a:ext cx="35512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Strongest positive correlation with sales. Higher-priced products consistently generate more revenue.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6415" y="2928938"/>
            <a:ext cx="3930056" cy="11865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33918" y="3080246"/>
            <a:ext cx="355124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OUTLET_TYPE — R ≈ 0.40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833918" y="3392686"/>
            <a:ext cx="35512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Second strongest predictor. The type of outlet (Grocery vs Supermarket) has a large impact on how much a product sells.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6415" y="4221262"/>
            <a:ext cx="3930056" cy="11865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33918" y="4372570"/>
            <a:ext cx="355124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OTHER FEATURES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833918" y="4685010"/>
            <a:ext cx="35512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Item_Visibility, Item_Weight, and Outlet_Age show weaker relationships, indicating price and outlet type dominate sales variation.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7606415" y="5526881"/>
            <a:ext cx="3930056" cy="637580"/>
          </a:xfrm>
          <a:prstGeom prst="roundRect">
            <a:avLst>
              <a:gd name="adj" fmla="val 31129"/>
            </a:avLst>
          </a:prstGeom>
          <a:solidFill>
            <a:srgbClr val="F4E5D7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8670" y="5689600"/>
            <a:ext cx="165294" cy="1322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36220" y="5655171"/>
            <a:ext cx="33679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Top correlated features — </a:t>
            </a: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Item_MRP</a:t>
            </a: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and </a:t>
            </a: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Outlet_Type</a:t>
            </a: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— were selected for deeper target-variable analysis.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8D35A-C7F0-9671-F859-3E38D2312DBB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7937"/>
            <a:ext cx="1086874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758726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OUTLET TYPE VS ITEM_OUTLET_SALES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557238"/>
            <a:ext cx="6065355" cy="4676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3419" y="1541066"/>
            <a:ext cx="413305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FINDINGS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3419" y="1915914"/>
            <a:ext cx="4133052" cy="135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45110" y="2081411"/>
            <a:ext cx="37258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HIGH VARIABILITY ACROSS TYPES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45110" y="2440087"/>
            <a:ext cx="3725869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Item_Outlet_Sales vary </a:t>
            </a:r>
            <a:r>
              <a:rPr lang="en-US" sz="115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significantly</a:t>
            </a: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across different outlet types — outlet type is a major driver of sales performance.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3419" y="3398540"/>
            <a:ext cx="4133052" cy="13528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45110" y="3564037"/>
            <a:ext cx="37258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SUPERMARKET TYPE 3 LEADS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45110" y="3922713"/>
            <a:ext cx="3725869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Supermarket Type 3 outlets consistently achieve the </a:t>
            </a:r>
            <a:r>
              <a:rPr lang="en-US" sz="115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highest sales</a:t>
            </a: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, indicating superior inventory, variety, or footfall.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3419" y="4881166"/>
            <a:ext cx="4133052" cy="13528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45110" y="5046663"/>
            <a:ext cx="372586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GROCERY STORES UNDERPERFORM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645110" y="5405338"/>
            <a:ext cx="3725869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Grocery Stores show the </a:t>
            </a:r>
            <a:r>
              <a:rPr lang="en-US" sz="115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lowest sales</a:t>
            </a: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overall — a strategic gap that represents an improvement opportunity.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52314-BAF3-1BC8-A100-FEF6D9175054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81299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ITEM_MRP VS ITEM_OUTLET_SALES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29766"/>
            <a:ext cx="6368313" cy="4550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891" y="1612999"/>
            <a:ext cx="41295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FINDINGS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6891" y="1996182"/>
            <a:ext cx="4129580" cy="1380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50963" y="2164060"/>
            <a:ext cx="37176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STRONG POSITIVE TREND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50963" y="2530475"/>
            <a:ext cx="371763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As Item_MRP increases, Item_Outlet_Sales increase — confirming the r ≈ 0.57 correlation seen in the heatmap.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6891" y="3510955"/>
            <a:ext cx="4129580" cy="13808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50963" y="3678833"/>
            <a:ext cx="37176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REVENUE FORMULA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50963" y="4045248"/>
            <a:ext cx="371763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Sales = Quantity × Price.</a:t>
            </a: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High-MRP products generate more revenue even if fewer units are sold per transaction.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6891" y="5025727"/>
            <a:ext cx="4129580" cy="11546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50963" y="5193605"/>
            <a:ext cx="371763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BUSINESS IMPLICATION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650963" y="5560020"/>
            <a:ext cx="371763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Stocking and promoting </a:t>
            </a:r>
            <a:r>
              <a:rPr lang="en-US" sz="1150" b="1" dirty="0">
                <a:solidFill>
                  <a:srgbClr val="3F3D3B"/>
                </a:solidFill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premium-priced products</a:t>
            </a: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 is a direct lever for increasing total outlet revenue.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AD751E-03AD-7BD1-D5F3-3AE4E4C51A97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>
            <a:extLst>
              <a:ext uri="{FF2B5EF4-FFF2-40B4-BE49-F238E27FC236}">
                <a16:creationId xmlns:a16="http://schemas.microsoft.com/office/drawing/2014/main" id="{D7C71CCB-757F-F0DE-03B6-50814C8BE65A}"/>
              </a:ext>
            </a:extLst>
          </p:cNvPr>
          <p:cNvSpPr/>
          <p:nvPr/>
        </p:nvSpPr>
        <p:spPr>
          <a:xfrm>
            <a:off x="661475" y="501253"/>
            <a:ext cx="1322454" cy="158155"/>
          </a:xfrm>
          <a:prstGeom prst="roundRect">
            <a:avLst>
              <a:gd name="adj" fmla="val 49999"/>
            </a:avLst>
          </a:prstGeom>
          <a:solidFill>
            <a:srgbClr val="F4E5D7"/>
          </a:solidFill>
          <a:ln/>
        </p:spPr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7887E9FA-FE2F-3254-C1EC-4D63BA42F8E6}"/>
              </a:ext>
            </a:extLst>
          </p:cNvPr>
          <p:cNvSpPr/>
          <p:nvPr/>
        </p:nvSpPr>
        <p:spPr>
          <a:xfrm>
            <a:off x="723882" y="532408"/>
            <a:ext cx="1807224" cy="95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MACHINE LEARNING MODELS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3B1EC05E-0DD1-54F1-086D-43C63FBA1F7D}"/>
              </a:ext>
            </a:extLst>
          </p:cNvPr>
          <p:cNvSpPr/>
          <p:nvPr/>
        </p:nvSpPr>
        <p:spPr>
          <a:xfrm>
            <a:off x="661475" y="685602"/>
            <a:ext cx="10868745" cy="32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MODEL TRAINING &amp; PERFORMANCE COMPARISON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8E746FC7-EC08-A64B-FEA4-B72A47B8ED4E}"/>
              </a:ext>
            </a:extLst>
          </p:cNvPr>
          <p:cNvSpPr/>
          <p:nvPr/>
        </p:nvSpPr>
        <p:spPr>
          <a:xfrm>
            <a:off x="661475" y="1174849"/>
            <a:ext cx="4195062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PERFORMANCE REPORT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Table 0">
            <a:extLst>
              <a:ext uri="{FF2B5EF4-FFF2-40B4-BE49-F238E27FC236}">
                <a16:creationId xmlns:a16="http://schemas.microsoft.com/office/drawing/2014/main" id="{389DEA10-8AC3-351F-3C45-E6BEB4822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97048"/>
              </p:ext>
            </p:extLst>
          </p:nvPr>
        </p:nvGraphicFramePr>
        <p:xfrm>
          <a:off x="661475" y="1411287"/>
          <a:ext cx="4311740" cy="1145680"/>
        </p:xfrm>
        <a:graphic>
          <a:graphicData uri="http://schemas.openxmlformats.org/drawingml/2006/table">
            <a:tbl>
              <a:tblPr/>
              <a:tblGrid>
                <a:gridCol w="1724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Model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R² Score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MSE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A062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6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Random Forest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0.7182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0.2962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XGBoost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0.7076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0.3074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Gradient Boosting 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0.7435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F3D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0.2697</a:t>
                      </a:r>
                      <a:endParaRPr lang="en-US" sz="11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04145" marR="104145" marT="6350" marB="6350" anchor="ctr">
                    <a:lnL w="12700" cap="flat" cmpd="sng" algn="ctr">
                      <a:solidFill>
                        <a:srgbClr val="FFF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A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7" name="Text 4">
            <a:extLst>
              <a:ext uri="{FF2B5EF4-FFF2-40B4-BE49-F238E27FC236}">
                <a16:creationId xmlns:a16="http://schemas.microsoft.com/office/drawing/2014/main" id="{FF64C351-05BB-D7A6-5671-B216C015E2C6}"/>
              </a:ext>
            </a:extLst>
          </p:cNvPr>
          <p:cNvSpPr/>
          <p:nvPr/>
        </p:nvSpPr>
        <p:spPr>
          <a:xfrm>
            <a:off x="5526979" y="1194525"/>
            <a:ext cx="5410059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INTERPRETATIONS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308F264E-8CE9-A4CF-D35F-E435267EE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4279" y="1418262"/>
            <a:ext cx="5426437" cy="502095"/>
          </a:xfrm>
          <a:prstGeom prst="rect">
            <a:avLst/>
          </a:prstGeom>
        </p:spPr>
      </p:pic>
      <p:sp>
        <p:nvSpPr>
          <p:cNvPr id="71" name="Text 5">
            <a:extLst>
              <a:ext uri="{FF2B5EF4-FFF2-40B4-BE49-F238E27FC236}">
                <a16:creationId xmlns:a16="http://schemas.microsoft.com/office/drawing/2014/main" id="{218CE44A-AE41-2B71-2869-1D5BBC362011}"/>
              </a:ext>
            </a:extLst>
          </p:cNvPr>
          <p:cNvSpPr/>
          <p:nvPr/>
        </p:nvSpPr>
        <p:spPr>
          <a:xfrm>
            <a:off x="5656457" y="1430963"/>
            <a:ext cx="5243082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GRADIENT BOOSTING WINS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93BF351E-6677-AAF0-3406-71F7F573F495}"/>
              </a:ext>
            </a:extLst>
          </p:cNvPr>
          <p:cNvSpPr/>
          <p:nvPr/>
        </p:nvSpPr>
        <p:spPr>
          <a:xfrm>
            <a:off x="5656457" y="1659166"/>
            <a:ext cx="5243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Highest R² (0.7435) and lowest MSE (0.2697) — best overall prediction accuracy.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Image 1" descr="preencoded.png">
            <a:extLst>
              <a:ext uri="{FF2B5EF4-FFF2-40B4-BE49-F238E27FC236}">
                <a16:creationId xmlns:a16="http://schemas.microsoft.com/office/drawing/2014/main" id="{998975F1-F57B-2DE8-287E-2914FEB7C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4279" y="1977077"/>
            <a:ext cx="5426437" cy="502095"/>
          </a:xfrm>
          <a:prstGeom prst="rect">
            <a:avLst/>
          </a:prstGeom>
        </p:spPr>
      </p:pic>
      <p:sp>
        <p:nvSpPr>
          <p:cNvPr id="77" name="Text 7">
            <a:extLst>
              <a:ext uri="{FF2B5EF4-FFF2-40B4-BE49-F238E27FC236}">
                <a16:creationId xmlns:a16="http://schemas.microsoft.com/office/drawing/2014/main" id="{FFCD71A1-0E20-8F2C-AEEB-BB9130A10B8D}"/>
              </a:ext>
            </a:extLst>
          </p:cNvPr>
          <p:cNvSpPr/>
          <p:nvPr/>
        </p:nvSpPr>
        <p:spPr>
          <a:xfrm>
            <a:off x="5656457" y="2008685"/>
            <a:ext cx="5243082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ALL MODELS TRAINED FAIRLY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D3B78A65-10A5-F195-9884-2779E5A2D6D5}"/>
              </a:ext>
            </a:extLst>
          </p:cNvPr>
          <p:cNvSpPr/>
          <p:nvPr/>
        </p:nvSpPr>
        <p:spPr>
          <a:xfrm>
            <a:off x="5656457" y="2211912"/>
            <a:ext cx="5243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Same 80/20 train-test split used across all three models for an unbiased comparison.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 2" descr="preencoded.png">
            <a:extLst>
              <a:ext uri="{FF2B5EF4-FFF2-40B4-BE49-F238E27FC236}">
                <a16:creationId xmlns:a16="http://schemas.microsoft.com/office/drawing/2014/main" id="{3A30EA02-411F-7632-8E71-00FF7EB06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6979" y="2479172"/>
            <a:ext cx="5426437" cy="502095"/>
          </a:xfrm>
          <a:prstGeom prst="rect">
            <a:avLst/>
          </a:prstGeom>
        </p:spPr>
      </p:pic>
      <p:sp>
        <p:nvSpPr>
          <p:cNvPr id="83" name="Text 9">
            <a:extLst>
              <a:ext uri="{FF2B5EF4-FFF2-40B4-BE49-F238E27FC236}">
                <a16:creationId xmlns:a16="http://schemas.microsoft.com/office/drawing/2014/main" id="{318C7946-570A-DD24-2E8F-88127F39D804}"/>
              </a:ext>
            </a:extLst>
          </p:cNvPr>
          <p:cNvSpPr/>
          <p:nvPr/>
        </p:nvSpPr>
        <p:spPr>
          <a:xfrm>
            <a:off x="5733384" y="2496595"/>
            <a:ext cx="5243082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R² INTERPRETATION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5648DB40-37BA-2C8E-3327-FA7F7CF26BCB}"/>
              </a:ext>
            </a:extLst>
          </p:cNvPr>
          <p:cNvSpPr/>
          <p:nvPr/>
        </p:nvSpPr>
        <p:spPr>
          <a:xfrm>
            <a:off x="5656457" y="2717036"/>
            <a:ext cx="52430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~74% of sales variance is explained by the best model — strong result for retail data.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8B52B152-7FE7-2EF5-F529-7E5EC4457F57}"/>
              </a:ext>
            </a:extLst>
          </p:cNvPr>
          <p:cNvSpPr/>
          <p:nvPr/>
        </p:nvSpPr>
        <p:spPr>
          <a:xfrm>
            <a:off x="5656457" y="3200323"/>
            <a:ext cx="6586543" cy="31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R² SCORE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Image 3" descr="preencoded.png">
            <a:extLst>
              <a:ext uri="{FF2B5EF4-FFF2-40B4-BE49-F238E27FC236}">
                <a16:creationId xmlns:a16="http://schemas.microsoft.com/office/drawing/2014/main" id="{ADED3519-3C2E-32B4-C75A-7F5582839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6947" y="3659654"/>
            <a:ext cx="3752408" cy="2726084"/>
          </a:xfrm>
          <a:prstGeom prst="rect">
            <a:avLst/>
          </a:prstGeom>
        </p:spPr>
      </p:pic>
      <p:sp>
        <p:nvSpPr>
          <p:cNvPr id="91" name="Text 12">
            <a:extLst>
              <a:ext uri="{FF2B5EF4-FFF2-40B4-BE49-F238E27FC236}">
                <a16:creationId xmlns:a16="http://schemas.microsoft.com/office/drawing/2014/main" id="{AE6F4812-D8FF-325E-438B-AF4F256A1DCF}"/>
              </a:ext>
            </a:extLst>
          </p:cNvPr>
          <p:cNvSpPr/>
          <p:nvPr/>
        </p:nvSpPr>
        <p:spPr>
          <a:xfrm>
            <a:off x="661475" y="3266282"/>
            <a:ext cx="6586543" cy="325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MSE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" name="Image 4" descr="preencoded.png">
            <a:extLst>
              <a:ext uri="{FF2B5EF4-FFF2-40B4-BE49-F238E27FC236}">
                <a16:creationId xmlns:a16="http://schemas.microsoft.com/office/drawing/2014/main" id="{9322B9A8-048A-4ADD-A23A-C1E2FAB7B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723248"/>
            <a:ext cx="3752408" cy="26910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884D50-8D14-B550-EB8F-6F136699B365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9020" y="0"/>
                </a:lnTo>
                <a:lnTo>
                  <a:pt x="95800" y="4880"/>
                </a:lnTo>
                <a:lnTo>
                  <a:pt x="93460" y="8980"/>
                </a:lnTo>
                <a:lnTo>
                  <a:pt x="92770" y="10550"/>
                </a:lnTo>
                <a:lnTo>
                  <a:pt x="92580" y="10640"/>
                </a:lnTo>
                <a:lnTo>
                  <a:pt x="90040" y="16020"/>
                </a:lnTo>
                <a:lnTo>
                  <a:pt x="87990" y="21190"/>
                </a:lnTo>
                <a:lnTo>
                  <a:pt x="86040" y="27340"/>
                </a:lnTo>
                <a:lnTo>
                  <a:pt x="84570" y="33500"/>
                </a:lnTo>
                <a:lnTo>
                  <a:pt x="83590" y="39550"/>
                </a:lnTo>
                <a:lnTo>
                  <a:pt x="83010" y="46970"/>
                </a:lnTo>
                <a:lnTo>
                  <a:pt x="83010" y="53030"/>
                </a:lnTo>
                <a:lnTo>
                  <a:pt x="83590" y="60450"/>
                </a:lnTo>
                <a:lnTo>
                  <a:pt x="84960" y="68360"/>
                </a:lnTo>
                <a:lnTo>
                  <a:pt x="86720" y="75000"/>
                </a:lnTo>
                <a:lnTo>
                  <a:pt x="88570" y="80370"/>
                </a:lnTo>
                <a:lnTo>
                  <a:pt x="91700" y="87600"/>
                </a:lnTo>
                <a:lnTo>
                  <a:pt x="95510" y="94630"/>
                </a:lnTo>
                <a:lnTo>
                  <a:pt x="990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00856"/>
            <a:ext cx="629686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3BC9A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BUSINESS INSIGHTS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33360" y="781645"/>
            <a:ext cx="6296860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SUGGESTIONS TO IMPROVE SALES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33360" y="1434207"/>
            <a:ext cx="2012404" cy="3182045"/>
          </a:xfrm>
          <a:prstGeom prst="roundRect">
            <a:avLst>
              <a:gd name="adj" fmla="val 10922"/>
            </a:avLst>
          </a:prstGeom>
          <a:solidFill>
            <a:srgbClr val="E3BC9A"/>
          </a:solidFill>
          <a:ln/>
        </p:spPr>
      </p:sp>
      <p:sp>
        <p:nvSpPr>
          <p:cNvPr id="6" name="Shape 3"/>
          <p:cNvSpPr/>
          <p:nvPr/>
        </p:nvSpPr>
        <p:spPr>
          <a:xfrm>
            <a:off x="5379804" y="1580654"/>
            <a:ext cx="439528" cy="439539"/>
          </a:xfrm>
          <a:prstGeom prst="ellipse">
            <a:avLst/>
          </a:prstGeom>
          <a:solidFill>
            <a:srgbClr val="E3BC9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0649" y="1701502"/>
            <a:ext cx="197738" cy="1977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9804" y="2149971"/>
            <a:ext cx="17195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PRIORITIZE HIGH-MRP PRODUCTS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79804" y="2685653"/>
            <a:ext cx="1719517" cy="1326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Item_MRP has the strongest correlation to sales (r ≈ 0.57). Keep premium products well-stocked and prominently displayed.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366609" y="1417538"/>
            <a:ext cx="2012404" cy="3182045"/>
          </a:xfrm>
          <a:prstGeom prst="roundRect">
            <a:avLst>
              <a:gd name="adj" fmla="val 10922"/>
            </a:avLst>
          </a:prstGeom>
          <a:solidFill>
            <a:srgbClr val="E3BC9A"/>
          </a:solidFill>
          <a:ln/>
        </p:spPr>
      </p:sp>
      <p:sp>
        <p:nvSpPr>
          <p:cNvPr id="11" name="Shape 7"/>
          <p:cNvSpPr/>
          <p:nvPr/>
        </p:nvSpPr>
        <p:spPr>
          <a:xfrm>
            <a:off x="7521982" y="1580654"/>
            <a:ext cx="439528" cy="439539"/>
          </a:xfrm>
          <a:prstGeom prst="ellipse">
            <a:avLst/>
          </a:prstGeom>
          <a:solidFill>
            <a:srgbClr val="FFF9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2828" y="1701502"/>
            <a:ext cx="197738" cy="1977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21982" y="2149971"/>
            <a:ext cx="171951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IMPROVE ITEM ORGANIZING STRATEGIES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521982" y="2903279"/>
            <a:ext cx="1719517" cy="1326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Supermarket Type 3 leads all outlet types. Lower-performing outlets should adopt its inventory depth and product variety.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9517717" y="1434207"/>
            <a:ext cx="2012503" cy="3182045"/>
          </a:xfrm>
          <a:prstGeom prst="roundRect">
            <a:avLst>
              <a:gd name="adj" fmla="val 10921"/>
            </a:avLst>
          </a:prstGeom>
          <a:solidFill>
            <a:srgbClr val="E3BC9A"/>
          </a:solidFill>
          <a:ln/>
        </p:spPr>
      </p:sp>
      <p:sp>
        <p:nvSpPr>
          <p:cNvPr id="16" name="Shape 11"/>
          <p:cNvSpPr/>
          <p:nvPr/>
        </p:nvSpPr>
        <p:spPr>
          <a:xfrm>
            <a:off x="9664161" y="1580654"/>
            <a:ext cx="439528" cy="439539"/>
          </a:xfrm>
          <a:prstGeom prst="ellipse">
            <a:avLst/>
          </a:prstGeom>
          <a:solidFill>
            <a:srgbClr val="A0622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5006" y="1701502"/>
            <a:ext cx="197738" cy="1977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64161" y="2149971"/>
            <a:ext cx="171961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BUNDLE LOW &amp; HIGH VALUE ITEMS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664161" y="2870758"/>
            <a:ext cx="1719616" cy="110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Pair lower-priced products with higher-value items to boost average basket size and total transaction value.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233360" y="4729361"/>
            <a:ext cx="6296860" cy="1611114"/>
          </a:xfrm>
          <a:prstGeom prst="roundRect">
            <a:avLst>
              <a:gd name="adj" fmla="val 13642"/>
            </a:avLst>
          </a:prstGeom>
          <a:solidFill>
            <a:srgbClr val="E3BC9A"/>
          </a:solidFill>
          <a:ln/>
        </p:spPr>
      </p:sp>
      <p:sp>
        <p:nvSpPr>
          <p:cNvPr id="21" name="Shape 15"/>
          <p:cNvSpPr/>
          <p:nvPr/>
        </p:nvSpPr>
        <p:spPr>
          <a:xfrm>
            <a:off x="5379804" y="4892477"/>
            <a:ext cx="439528" cy="439539"/>
          </a:xfrm>
          <a:prstGeom prst="ellipse">
            <a:avLst/>
          </a:prstGeom>
          <a:solidFill>
            <a:srgbClr val="E3BC9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0649" y="5013325"/>
            <a:ext cx="197738" cy="1977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79804" y="5255816"/>
            <a:ext cx="600397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OPTIMIZE OUTLET INVENTORY</a:t>
            </a:r>
          </a:p>
        </p:txBody>
      </p:sp>
      <p:sp>
        <p:nvSpPr>
          <p:cNvPr id="24" name="Text 17"/>
          <p:cNvSpPr/>
          <p:nvPr/>
        </p:nvSpPr>
        <p:spPr>
          <a:xfrm>
            <a:off x="5379804" y="5637411"/>
            <a:ext cx="6003973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more stock and product variety to outlets that show stronger sales.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1C8DF3F-1596-E994-E958-4FD7664EFC34}"/>
              </a:ext>
            </a:extLst>
          </p:cNvPr>
          <p:cNvSpPr/>
          <p:nvPr/>
        </p:nvSpPr>
        <p:spPr>
          <a:xfrm>
            <a:off x="661475" y="591741"/>
            <a:ext cx="1072826" cy="251420"/>
          </a:xfrm>
          <a:prstGeom prst="roundRect">
            <a:avLst>
              <a:gd name="adj" fmla="val 49999"/>
            </a:avLst>
          </a:prstGeom>
          <a:solidFill>
            <a:srgbClr val="F4E5D7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F3F7378-6008-17A6-BD85-78A52309F0EC}"/>
              </a:ext>
            </a:extLst>
          </p:cNvPr>
          <p:cNvSpPr/>
          <p:nvPr/>
        </p:nvSpPr>
        <p:spPr>
          <a:xfrm>
            <a:off x="760691" y="641350"/>
            <a:ext cx="14839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CONCLUSION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B31E924-CC58-F9CA-6CA0-96591336FE93}"/>
              </a:ext>
            </a:extLst>
          </p:cNvPr>
          <p:cNvSpPr/>
          <p:nvPr/>
        </p:nvSpPr>
        <p:spPr>
          <a:xfrm>
            <a:off x="661475" y="9092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A0622C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KEY FINDINGS &amp; CONCLUSION</a:t>
            </a:r>
            <a:endParaRPr lang="en-US" sz="3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9340D7F-680A-E385-03C5-FE3049824119}"/>
              </a:ext>
            </a:extLst>
          </p:cNvPr>
          <p:cNvSpPr/>
          <p:nvPr/>
        </p:nvSpPr>
        <p:spPr>
          <a:xfrm>
            <a:off x="661475" y="1860054"/>
            <a:ext cx="372061" cy="372070"/>
          </a:xfrm>
          <a:prstGeom prst="ellipse">
            <a:avLst/>
          </a:prstGeom>
          <a:solidFill>
            <a:srgbClr val="E3BC9A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8CF979A-F66D-9904-6FFA-9B26E8436319}"/>
              </a:ext>
            </a:extLst>
          </p:cNvPr>
          <p:cNvSpPr/>
          <p:nvPr/>
        </p:nvSpPr>
        <p:spPr>
          <a:xfrm>
            <a:off x="1198830" y="1916906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PRODUCT PRICE IS THE #1 DRIVER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ED68A92E-6621-BCE2-32E0-CC5FE3E05A40}"/>
              </a:ext>
            </a:extLst>
          </p:cNvPr>
          <p:cNvSpPr/>
          <p:nvPr/>
        </p:nvSpPr>
        <p:spPr>
          <a:xfrm>
            <a:off x="1198830" y="2340670"/>
            <a:ext cx="52588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Item_MRP shows the strongest positive relationship with sales (correlation ≈ 0.57). Higher-priced products generate significantly more revenue.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DFADC02-FE50-F6DB-60C5-1F001036A5B3}"/>
              </a:ext>
            </a:extLst>
          </p:cNvPr>
          <p:cNvSpPr/>
          <p:nvPr/>
        </p:nvSpPr>
        <p:spPr>
          <a:xfrm>
            <a:off x="661475" y="3465215"/>
            <a:ext cx="372061" cy="372070"/>
          </a:xfrm>
          <a:prstGeom prst="ellipse">
            <a:avLst/>
          </a:prstGeom>
          <a:solidFill>
            <a:srgbClr val="FFF9F5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6AD9993F-38EC-851D-81BF-E72E3CB0F3C8}"/>
              </a:ext>
            </a:extLst>
          </p:cNvPr>
          <p:cNvSpPr/>
          <p:nvPr/>
        </p:nvSpPr>
        <p:spPr>
          <a:xfrm>
            <a:off x="1198830" y="3522067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OUTLET TYPE MATTERS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45A6C01-3B62-7536-7E90-9F467E41E327}"/>
              </a:ext>
            </a:extLst>
          </p:cNvPr>
          <p:cNvSpPr/>
          <p:nvPr/>
        </p:nvSpPr>
        <p:spPr>
          <a:xfrm>
            <a:off x="1198830" y="3945830"/>
            <a:ext cx="525885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Outlet_Type is the second-strongest predictor (correlation ≈ 0.40). Supermarket Type 3 consistently outperforms other outlet formats.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3A286CC-43E0-16A0-71EB-FA19171F5CA3}"/>
              </a:ext>
            </a:extLst>
          </p:cNvPr>
          <p:cNvSpPr/>
          <p:nvPr/>
        </p:nvSpPr>
        <p:spPr>
          <a:xfrm>
            <a:off x="661475" y="4805759"/>
            <a:ext cx="372061" cy="372070"/>
          </a:xfrm>
          <a:prstGeom prst="ellipse">
            <a:avLst/>
          </a:prstGeom>
          <a:solidFill>
            <a:srgbClr val="A0622C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B19980F-BCD0-4A32-C94B-A7438CE7C9CA}"/>
              </a:ext>
            </a:extLst>
          </p:cNvPr>
          <p:cNvSpPr/>
          <p:nvPr/>
        </p:nvSpPr>
        <p:spPr>
          <a:xfrm>
            <a:off x="1198830" y="4862612"/>
            <a:ext cx="52588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BEST MODEL: GRADIENT BOOSTING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B19A397F-9702-CFDF-99BC-A48A10F6DDEE}"/>
              </a:ext>
            </a:extLst>
          </p:cNvPr>
          <p:cNvSpPr/>
          <p:nvPr/>
        </p:nvSpPr>
        <p:spPr>
          <a:xfrm>
            <a:off x="1198830" y="5286375"/>
            <a:ext cx="525885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F3D3B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Among all three models, Gradient Boosting Regressor achieved the highest R² score (0.7435) and the lowest MSE (0.2697) — making it the recommended model for sales prediction and inventory planning.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05722F0F-4F77-8F01-3E0E-9C7B0882766D}"/>
              </a:ext>
            </a:extLst>
          </p:cNvPr>
          <p:cNvSpPr/>
          <p:nvPr/>
        </p:nvSpPr>
        <p:spPr>
          <a:xfrm>
            <a:off x="6867452" y="2073660"/>
            <a:ext cx="2251812" cy="1872170"/>
          </a:xfrm>
          <a:prstGeom prst="roundRect">
            <a:avLst>
              <a:gd name="adj" fmla="val 16024"/>
            </a:avLst>
          </a:prstGeom>
          <a:solidFill>
            <a:srgbClr val="E3BC9A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79DA814C-A35E-03AD-0D9E-DEE78547F40C}"/>
              </a:ext>
            </a:extLst>
          </p:cNvPr>
          <p:cNvSpPr/>
          <p:nvPr/>
        </p:nvSpPr>
        <p:spPr>
          <a:xfrm>
            <a:off x="7032747" y="2238958"/>
            <a:ext cx="1921224" cy="312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MODELS TRAINED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7CA6CF91-1C5A-04ED-0D41-73A998E8A2D1}"/>
              </a:ext>
            </a:extLst>
          </p:cNvPr>
          <p:cNvSpPr/>
          <p:nvPr/>
        </p:nvSpPr>
        <p:spPr>
          <a:xfrm>
            <a:off x="7032747" y="2662722"/>
            <a:ext cx="1921224" cy="639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Random Forest · XGBoost · Gradient Boosting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59AABF2-27F6-ABD9-96E3-FEE40B6C48D7}"/>
              </a:ext>
            </a:extLst>
          </p:cNvPr>
          <p:cNvSpPr/>
          <p:nvPr/>
        </p:nvSpPr>
        <p:spPr>
          <a:xfrm>
            <a:off x="9284559" y="2073660"/>
            <a:ext cx="2251912" cy="1872170"/>
          </a:xfrm>
          <a:prstGeom prst="roundRect">
            <a:avLst>
              <a:gd name="adj" fmla="val 16024"/>
            </a:avLst>
          </a:prstGeom>
          <a:solidFill>
            <a:srgbClr val="FFF9F5"/>
          </a:solidFill>
          <a:ln/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603E8D2A-C22D-FF8E-7E5D-7E8442ADB1C3}"/>
              </a:ext>
            </a:extLst>
          </p:cNvPr>
          <p:cNvSpPr/>
          <p:nvPr/>
        </p:nvSpPr>
        <p:spPr>
          <a:xfrm>
            <a:off x="9449853" y="2238958"/>
            <a:ext cx="1921323" cy="312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D01F790-1251-81EA-401D-4B4C4319F119}"/>
              </a:ext>
            </a:extLst>
          </p:cNvPr>
          <p:cNvSpPr/>
          <p:nvPr/>
        </p:nvSpPr>
        <p:spPr>
          <a:xfrm>
            <a:off x="9449853" y="2662722"/>
            <a:ext cx="1921323" cy="95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8,523 samples · 12 features · Big Mart train.csv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496B9E67-FBA4-5B2F-17E0-403A9A75E0CD}"/>
              </a:ext>
            </a:extLst>
          </p:cNvPr>
          <p:cNvSpPr/>
          <p:nvPr/>
        </p:nvSpPr>
        <p:spPr>
          <a:xfrm>
            <a:off x="6867452" y="3787168"/>
            <a:ext cx="4669018" cy="1232197"/>
          </a:xfrm>
          <a:prstGeom prst="roundRect">
            <a:avLst>
              <a:gd name="adj" fmla="val 24347"/>
            </a:avLst>
          </a:prstGeom>
          <a:solidFill>
            <a:srgbClr val="A0622C"/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FDFF2847-9921-BF6B-36A7-1916A12C4B44}"/>
              </a:ext>
            </a:extLst>
          </p:cNvPr>
          <p:cNvSpPr/>
          <p:nvPr/>
        </p:nvSpPr>
        <p:spPr>
          <a:xfrm>
            <a:off x="7032747" y="3952466"/>
            <a:ext cx="4338430" cy="312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BEST R²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D0257E1-D648-A602-FEFD-C26B11EF7747}"/>
              </a:ext>
            </a:extLst>
          </p:cNvPr>
          <p:cNvSpPr/>
          <p:nvPr/>
        </p:nvSpPr>
        <p:spPr>
          <a:xfrm>
            <a:off x="7032747" y="4376228"/>
            <a:ext cx="4338430" cy="319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0.7435 — Gradient Boosting Regressor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74E215-6F52-CEA1-86F6-37F2E0FA0F05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FFF9F5"/>
          </a:solidFill>
          <a:ln>
            <a:solidFill>
              <a:srgbClr val="FF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5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97230-F2BF-F3AA-2CF0-3EBE96CDD517}"/>
              </a:ext>
            </a:extLst>
          </p:cNvPr>
          <p:cNvSpPr txBox="1"/>
          <p:nvPr/>
        </p:nvSpPr>
        <p:spPr>
          <a:xfrm>
            <a:off x="2911642" y="2514895"/>
            <a:ext cx="6368716" cy="989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850" dirty="0">
                <a:solidFill>
                  <a:srgbClr val="A062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A1545-AF25-7AD7-7A01-BFDEDCAD5B07}"/>
              </a:ext>
            </a:extLst>
          </p:cNvPr>
          <p:cNvSpPr/>
          <p:nvPr/>
        </p:nvSpPr>
        <p:spPr>
          <a:xfrm>
            <a:off x="11094098" y="6540759"/>
            <a:ext cx="1097902" cy="317241"/>
          </a:xfrm>
          <a:prstGeom prst="rect">
            <a:avLst/>
          </a:prstGeom>
          <a:solidFill>
            <a:srgbClr val="B2A39C"/>
          </a:solidFill>
          <a:ln>
            <a:solidFill>
              <a:srgbClr val="B2A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6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A0622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1166</Words>
  <Application>Microsoft Office PowerPoint</Application>
  <PresentationFormat>Widescreen</PresentationFormat>
  <Paragraphs>194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Instrument Sans</vt:lpstr>
      <vt:lpstr>Times New Roman</vt:lpstr>
      <vt:lpstr>Twemoji Mozilla, Apple Color Emoji, Segoe UI Emoji, Segoe UI Symbol, Noto Color Emoji, EmojiOne Color, Android Emoji, sans-serif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 Satyanarayana</dc:creator>
  <cp:lastModifiedBy>JOHN GOURI</cp:lastModifiedBy>
  <cp:revision>5</cp:revision>
  <dcterms:created xsi:type="dcterms:W3CDTF">2026-09-08T06:36:57Z</dcterms:created>
  <dcterms:modified xsi:type="dcterms:W3CDTF">2026-09-09T05:14:24Z</dcterms:modified>
</cp:coreProperties>
</file>